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0" r:id="rId1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往后余生" initials="authorId_572918646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本节聚焦 GCG 方法。来源：论文第 2.2-2.3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大模型的输入是 </a:t>
            </a:r>
            <a:r>
              <a:rPr lang="en-US" altLang="zh-CN"/>
              <a:t>token </a:t>
            </a:r>
            <a:r>
              <a:rPr lang="zh-CN" altLang="en-US"/>
              <a:t>序列；大模型的核心生成任务是根据已有 </a:t>
            </a:r>
            <a:r>
              <a:rPr lang="en-US" altLang="zh-CN"/>
              <a:t>token </a:t>
            </a:r>
            <a:r>
              <a:rPr lang="zh-CN" altLang="en-US"/>
              <a:t>预测下一个 </a:t>
            </a:r>
            <a:r>
              <a:rPr lang="en-US" altLang="zh-CN"/>
              <a:t>token </a:t>
            </a:r>
            <a:r>
              <a:rPr lang="zh-CN" altLang="en-US"/>
              <a:t>的概率分布</a:t>
            </a:r>
            <a:endParaRPr lang="zh-CN" altLang="en-US"/>
          </a:p>
          <a:p>
            <a:r>
              <a:rPr lang="zh-CN" altLang="en-US"/>
              <a:t>假设攻击者希望模型输出目标字符串</a:t>
            </a:r>
            <a:r>
              <a:rPr lang="en-US" altLang="zh-CN"/>
              <a:t>y </a:t>
            </a:r>
            <a:r>
              <a:rPr lang="zh-CN" altLang="en-US"/>
              <a:t>那么直接最大化</a:t>
            </a:r>
            <a:r>
              <a:rPr lang="en-US" altLang="zh-CN"/>
              <a:t>P</a:t>
            </a:r>
            <a:r>
              <a:rPr lang="zh-CN" altLang="en-US">
                <a:ea typeface="宋体" panose="02010600030101010101" pitchFamily="2" charset="-122"/>
              </a:rPr>
              <a:t>（</a:t>
            </a:r>
            <a:r>
              <a:rPr lang="en-US" altLang="zh-CN">
                <a:ea typeface="宋体" panose="02010600030101010101" pitchFamily="2" charset="-122"/>
              </a:rPr>
              <a:t>y|x</a:t>
            </a:r>
            <a:r>
              <a:rPr lang="zh-CN" altLang="en-US">
                <a:ea typeface="宋体" panose="02010600030101010101" pitchFamily="2" charset="-122"/>
              </a:rPr>
              <a:t>）即可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，为什么不这样呢</a:t>
            </a:r>
            <a:r>
              <a:rPr lang="en-US" altLang="zh-CN">
                <a:ea typeface="宋体" panose="02010600030101010101" pitchFamily="2" charset="-122"/>
              </a:rPr>
              <a:t>(1)(2)</a:t>
            </a:r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AutoPrompt</a:t>
            </a:r>
            <a:r>
              <a:rPr lang="zh-CN" altLang="en-US"/>
              <a:t>事先选择一个单一的坐标进行调整，然后只对该位置的替换进行评估。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如果是不同模型有相同的</a:t>
            </a:r>
            <a:r>
              <a:rPr lang="en-US" altLang="zh-CN"/>
              <a:t>tokenizer</a:t>
            </a:r>
            <a:r>
              <a:rPr lang="zh-CN" altLang="en-US"/>
              <a:t>怎么办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论文来源：https://arxiv.org/abs/2307.15043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A33EA5-82DC-4F75-89FD-6C8D9B5C19B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F6E029-9AFC-415E-895C-9EA2D3B33C8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A33EA5-82DC-4F75-89FD-6C8D9B5C19B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F6E029-9AFC-415E-895C-9EA2D3B33C8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A33EA5-82DC-4F75-89FD-6C8D9B5C19B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F6E029-9AFC-415E-895C-9EA2D3B33C8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A33EA5-82DC-4F75-89FD-6C8D9B5C19B1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F6E029-9AFC-415E-895C-9EA2D3B33C8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A33EA5-82DC-4F75-89FD-6C8D9B5C19B1}" type="datetimeFigureOut">
              <a:rPr/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F6E029-9AFC-415E-895C-9EA2D3B33C8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A33EA5-82DC-4F75-89FD-6C8D9B5C19B1}" type="datetimeFigureOut">
              <a:rPr/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F6E029-9AFC-415E-895C-9EA2D3B33C8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A33EA5-82DC-4F75-89FD-6C8D9B5C19B1}" type="datetimeFigureOut">
              <a:rPr/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F6E029-9AFC-415E-895C-9EA2D3B33C8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A33EA5-82DC-4F75-89FD-6C8D9B5C19B1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F6E029-9AFC-415E-895C-9EA2D3B33C8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A33EA5-82DC-4F75-89FD-6C8D9B5C19B1}" type="datetimeFigureOut">
              <a:rPr/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F6E029-9AFC-415E-895C-9EA2D3B33C8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A33EA5-82DC-4F75-89FD-6C8D9B5C19B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F6E029-9AFC-415E-895C-9EA2D3B33C8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0A33EA5-82DC-4F75-89FD-6C8D9B5C19B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3FF6E029-9AFC-415E-895C-9EA2D3B33C87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33EA5-82DC-4F75-89FD-6C8D9B5C19B1}" type="datetimeFigureOut">
              <a:rPr/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F6E029-9AFC-415E-895C-9EA2D3B33C87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9" Type="http://schemas.openxmlformats.org/officeDocument/2006/relationships/notesSlide" Target="../notesSlides/notesSlide2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7.png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0" Type="http://schemas.openxmlformats.org/officeDocument/2006/relationships/notesSlide" Target="../notesSlides/notesSlide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1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2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3046318" y="2503544"/>
            <a:ext cx="609936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3000" b="1" spc="300">
                <a:ln w="9525">
                  <a:noFill/>
                </a:ln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Arial" panose="020B0604020202020204"/>
                <a:ea typeface="Arial" panose="020B0604020202020204"/>
                <a:cs typeface="Arial" panose="020B0604020202020204"/>
              </a:rPr>
              <a:t>Universal and Transferable</a:t>
            </a:r>
            <a:endParaRPr sz="3000" b="1" spc="300">
              <a:ln w="9525">
                <a:noFill/>
              </a:ln>
              <a:gradFill>
                <a:gsLst>
                  <a:gs pos="0">
                    <a:schemeClr val="tx1">
                      <a:lumMod val="95000"/>
                      <a:lumOff val="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5400000" scaled="1"/>
              </a:gra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>
              <a:buNone/>
            </a:pPr>
            <a:r>
              <a:rPr sz="3000" b="1" spc="300">
                <a:ln w="9525">
                  <a:noFill/>
                </a:ln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Arial" panose="020B0604020202020204"/>
                <a:ea typeface="Arial" panose="020B0604020202020204"/>
                <a:cs typeface="Arial" panose="020B0604020202020204"/>
              </a:rPr>
              <a:t>Adversarial Attacks</a:t>
            </a:r>
            <a:endParaRPr sz="3000" b="1" spc="300">
              <a:ln w="9525">
                <a:noFill/>
              </a:ln>
              <a:gradFill>
                <a:gsLst>
                  <a:gs pos="0">
                    <a:schemeClr val="tx1">
                      <a:lumMod val="95000"/>
                      <a:lumOff val="5000"/>
                    </a:schemeClr>
                  </a:gs>
                  <a:gs pos="100000">
                    <a:schemeClr val="tx1">
                      <a:lumMod val="65000"/>
                      <a:lumOff val="35000"/>
                    </a:schemeClr>
                  </a:gs>
                </a:gsLst>
                <a:lin ang="5400000" scaled="1"/>
              </a:gra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文本框 8"/>
          <p:cNvSpPr>
            <a:spLocks noGrp="1"/>
          </p:cNvSpPr>
          <p:nvPr/>
        </p:nvSpPr>
        <p:spPr>
          <a:xfrm>
            <a:off x="3091307" y="3331383"/>
            <a:ext cx="5947013" cy="4154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2100" spc="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ON ALIGNED LANGUAGE MODELS</a:t>
            </a:r>
            <a:endParaRPr sz="2100" spc="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27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713" y="1011739"/>
            <a:ext cx="1276573" cy="1125400"/>
          </a:xfrm>
          <a:prstGeom prst="rect">
            <a:avLst/>
          </a:prstGeom>
        </p:spPr>
      </p:pic>
      <p:pic>
        <p:nvPicPr>
          <p:cNvPr id="28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686" y="79577"/>
            <a:ext cx="3046628" cy="615185"/>
          </a:xfrm>
          <a:prstGeom prst="rect">
            <a:avLst/>
          </a:prstGeom>
        </p:spPr>
      </p:pic>
      <p:sp>
        <p:nvSpPr>
          <p:cNvPr id="14" name="直线连接符 13"/>
          <p:cNvSpPr>
            <a:spLocks noGrp="1"/>
          </p:cNvSpPr>
          <p:nvPr/>
        </p:nvSpPr>
        <p:spPr>
          <a:xfrm>
            <a:off x="0" y="3991233"/>
            <a:ext cx="12192000" cy="0"/>
          </a:xfrm>
          <a:prstGeom prst="line">
            <a:avLst/>
          </a:prstGeom>
          <a:ln w="57150">
            <a:gradFill>
              <a:gsLst>
                <a:gs pos="0">
                  <a:schemeClr val="accent1">
                    <a:lumMod val="0"/>
                    <a:lumOff val="100000"/>
                    <a:alpha val="0"/>
                  </a:schemeClr>
                </a:gs>
                <a:gs pos="100000">
                  <a:schemeClr val="accent1">
                    <a:lumMod val="0"/>
                    <a:lumOff val="100000"/>
                    <a:alpha val="0"/>
                  </a:schemeClr>
                </a:gs>
                <a:gs pos="51000">
                  <a:srgbClr val="C00000">
                    <a:alpha val="88000"/>
                  </a:srgb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文本框 21"/>
          <p:cNvSpPr>
            <a:spLocks noGrp="1"/>
          </p:cNvSpPr>
          <p:nvPr/>
        </p:nvSpPr>
        <p:spPr>
          <a:xfrm>
            <a:off x="5548248" y="5707761"/>
            <a:ext cx="1176655" cy="2755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200" spc="300">
                <a:latin typeface="Arial" panose="020B0604020202020204"/>
                <a:ea typeface="Arial" panose="020B0604020202020204"/>
                <a:cs typeface="Arial" panose="020B0604020202020204"/>
              </a:rPr>
              <a:t>2026</a:t>
            </a:r>
            <a:r>
              <a:rPr sz="1200" spc="300">
                <a:latin typeface="Arial" panose="020B0604020202020204"/>
                <a:ea typeface="Arial" panose="020B0604020202020204"/>
                <a:cs typeface="Arial" panose="020B0604020202020204"/>
              </a:rPr>
              <a:t>年</a:t>
            </a:r>
            <a:r>
              <a:rPr sz="1200" spc="300">
                <a:latin typeface="Arial" panose="020B0604020202020204"/>
                <a:ea typeface="Arial" panose="020B0604020202020204"/>
                <a:cs typeface="Arial" panose="020B0604020202020204"/>
              </a:rPr>
              <a:t>9</a:t>
            </a:r>
            <a:r>
              <a:rPr sz="1200" spc="300">
                <a:latin typeface="Arial" panose="020B0604020202020204"/>
                <a:ea typeface="Arial" panose="020B0604020202020204"/>
                <a:cs typeface="Arial" panose="020B0604020202020204"/>
              </a:rPr>
              <a:t>月</a:t>
            </a:r>
            <a:endParaRPr sz="1200" spc="3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" name="文本框 4"/>
          <p:cNvSpPr>
            <a:spLocks noGrp="1"/>
          </p:cNvSpPr>
          <p:nvPr/>
        </p:nvSpPr>
        <p:spPr>
          <a:xfrm>
            <a:off x="5658997" y="4716777"/>
            <a:ext cx="114646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600" spc="900">
                <a:latin typeface="Arial" panose="020B0604020202020204"/>
                <a:ea typeface="Arial" panose="020B0604020202020204"/>
                <a:cs typeface="Arial" panose="020B0604020202020204"/>
              </a:rPr>
              <a:t>汇报人</a:t>
            </a:r>
            <a:endParaRPr sz="1600" spc="9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文本框 18"/>
          <p:cNvSpPr>
            <a:spLocks noGrp="1"/>
          </p:cNvSpPr>
          <p:nvPr/>
        </p:nvSpPr>
        <p:spPr>
          <a:xfrm>
            <a:off x="5545073" y="5111112"/>
            <a:ext cx="1260475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sz="2200" b="1" spc="300">
                <a:latin typeface="Arial" panose="020B0604020202020204"/>
                <a:ea typeface="Arial" panose="020B0604020202020204"/>
                <a:cs typeface="Arial" panose="020B0604020202020204"/>
              </a:rPr>
              <a:t>宋一箭</a:t>
            </a:r>
            <a:endParaRPr lang="zh-CN" altLang="en-US" sz="2200" b="1" spc="3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-2"/>
            <a:ext cx="12192000" cy="1062679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1062677"/>
            <a:ext cx="12192000" cy="132378"/>
          </a:xfrm>
          <a:prstGeom prst="rect">
            <a:avLst/>
          </a:prstGeom>
          <a:gradFill>
            <a:gsLst>
              <a:gs pos="0">
                <a:srgbClr val="C00000">
                  <a:alpha val="32000"/>
                </a:srgbClr>
              </a:gs>
              <a:gs pos="100000">
                <a:srgbClr val="C00000">
                  <a:lumMod val="94000"/>
                  <a:lumOff val="6000"/>
                  <a:alpha val="2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0" y="6453336"/>
            <a:ext cx="12192000" cy="404665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文本框 10"/>
          <p:cNvSpPr>
            <a:spLocks noGrp="1"/>
          </p:cNvSpPr>
          <p:nvPr/>
        </p:nvSpPr>
        <p:spPr>
          <a:xfrm>
            <a:off x="857591" y="553645"/>
            <a:ext cx="1928541" cy="40011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r>
              <a:rPr sz="2000" b="1" spc="300">
                <a:solidFill>
                  <a:schemeClr val="bg1">
                    <a:alpha val="38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CONTENTS</a:t>
            </a:r>
            <a:endParaRPr sz="2000" b="1" spc="300">
              <a:solidFill>
                <a:schemeClr val="bg1">
                  <a:alpha val="38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文本框 7"/>
          <p:cNvSpPr>
            <a:spLocks noGrp="1"/>
          </p:cNvSpPr>
          <p:nvPr/>
        </p:nvSpPr>
        <p:spPr>
          <a:xfrm>
            <a:off x="623392" y="260058"/>
            <a:ext cx="11592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3200" b="1" spc="6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目录</a:t>
            </a:r>
            <a:endParaRPr sz="3200" b="1" spc="60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36" name="图片 4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840416" y="303140"/>
            <a:ext cx="2031325" cy="403124"/>
          </a:xfrm>
          <a:prstGeom prst="rect">
            <a:avLst/>
          </a:prstGeom>
        </p:spPr>
      </p:pic>
      <p:pic>
        <p:nvPicPr>
          <p:cNvPr id="137" name="图片 9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8996245" y="6572902"/>
            <a:ext cx="3038389" cy="185483"/>
          </a:xfrm>
          <a:prstGeom prst="rect">
            <a:avLst/>
          </a:prstGeom>
        </p:spPr>
      </p:pic>
      <p:pic>
        <p:nvPicPr>
          <p:cNvPr id="138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00" y="6453336"/>
            <a:ext cx="2362200" cy="482600"/>
          </a:xfrm>
          <a:prstGeom prst="rect">
            <a:avLst/>
          </a:prstGeom>
        </p:spPr>
      </p:pic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>
            <a:off x="1782445" y="1748790"/>
            <a:ext cx="6897370" cy="3909695"/>
            <a:chOff x="1453" y="2727"/>
            <a:chExt cx="10862" cy="6157"/>
          </a:xfrm>
        </p:grpSpPr>
        <p:sp>
          <p:nvSpPr>
            <p:cNvPr id="21" name="圆角矩形 20"/>
            <p:cNvSpPr>
              <a:spLocks noGrp="1"/>
            </p:cNvSpPr>
            <p:nvPr>
              <p:custDataLst>
                <p:tags r:id="rId5"/>
              </p:custDataLst>
            </p:nvPr>
          </p:nvSpPr>
          <p:spPr>
            <a:xfrm>
              <a:off x="1453" y="2727"/>
              <a:ext cx="1754" cy="1054"/>
            </a:xfrm>
            <a:prstGeom prst="roundRect">
              <a:avLst>
                <a:gd name="adj" fmla="val 16419"/>
              </a:avLst>
            </a:prstGeom>
            <a:gradFill>
              <a:gsLst>
                <a:gs pos="0">
                  <a:srgbClr val="C00000">
                    <a:alpha val="72000"/>
                  </a:srgbClr>
                </a:gs>
                <a:gs pos="100000">
                  <a:srgbClr val="C00000">
                    <a:alpha val="47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None/>
              </a:pPr>
              <a:endParaRPr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63" name="圆角矩形 62"/>
            <p:cNvSpPr>
              <a:spLocks noGrp="1"/>
            </p:cNvSpPr>
            <p:nvPr>
              <p:custDataLst>
                <p:tags r:id="rId6"/>
              </p:custDataLst>
            </p:nvPr>
          </p:nvSpPr>
          <p:spPr>
            <a:xfrm>
              <a:off x="1646" y="2865"/>
              <a:ext cx="1754" cy="1054"/>
            </a:xfrm>
            <a:prstGeom prst="roundRect">
              <a:avLst>
                <a:gd name="adj" fmla="val 16419"/>
              </a:avLst>
            </a:prstGeom>
            <a:gradFill>
              <a:gsLst>
                <a:gs pos="0">
                  <a:srgbClr val="C00000">
                    <a:alpha val="40000"/>
                  </a:srgbClr>
                </a:gs>
                <a:gs pos="100000">
                  <a:srgbClr val="C00000">
                    <a:alpha val="15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None/>
              </a:pPr>
              <a:endParaRPr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7" name="文本框 16"/>
            <p:cNvSpPr>
              <a:spLocks noGrp="1"/>
            </p:cNvSpPr>
            <p:nvPr>
              <p:custDataLst>
                <p:tags r:id="rId7"/>
              </p:custDataLst>
            </p:nvPr>
          </p:nvSpPr>
          <p:spPr>
            <a:xfrm>
              <a:off x="1508" y="2806"/>
              <a:ext cx="1662" cy="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sz="2400" b="1">
                  <a:solidFill>
                    <a:schemeClr val="bg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endParaRPr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4" name="文本框 13"/>
            <p:cNvSpPr>
              <a:spLocks noGrp="1"/>
            </p:cNvSpPr>
            <p:nvPr>
              <p:custDataLst>
                <p:tags r:id="rId8"/>
              </p:custDataLst>
            </p:nvPr>
          </p:nvSpPr>
          <p:spPr>
            <a:xfrm>
              <a:off x="3629" y="2816"/>
              <a:ext cx="8686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sz="2800" b="1" spc="30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/>
                  <a:ea typeface="Arial" panose="020B0604020202020204"/>
                  <a:cs typeface="Arial" panose="020B0604020202020204"/>
                </a:rPr>
                <a:t>研究问题</a:t>
              </a:r>
              <a:endParaRPr sz="2800" b="1" spc="300"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7" name="圆角矩形 76"/>
            <p:cNvSpPr>
              <a:spLocks noGrp="1"/>
            </p:cNvSpPr>
            <p:nvPr>
              <p:custDataLst>
                <p:tags r:id="rId9"/>
              </p:custDataLst>
            </p:nvPr>
          </p:nvSpPr>
          <p:spPr>
            <a:xfrm>
              <a:off x="1453" y="5209"/>
              <a:ext cx="1754" cy="1054"/>
            </a:xfrm>
            <a:prstGeom prst="roundRect">
              <a:avLst>
                <a:gd name="adj" fmla="val 16419"/>
              </a:avLst>
            </a:prstGeom>
            <a:gradFill>
              <a:gsLst>
                <a:gs pos="0">
                  <a:srgbClr val="C00000">
                    <a:alpha val="72000"/>
                  </a:srgbClr>
                </a:gs>
                <a:gs pos="100000">
                  <a:srgbClr val="C00000">
                    <a:alpha val="47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None/>
              </a:pPr>
              <a:endParaRPr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8" name="圆角矩形 77"/>
            <p:cNvSpPr>
              <a:spLocks noGrp="1"/>
            </p:cNvSpPr>
            <p:nvPr>
              <p:custDataLst>
                <p:tags r:id="rId10"/>
              </p:custDataLst>
            </p:nvPr>
          </p:nvSpPr>
          <p:spPr>
            <a:xfrm>
              <a:off x="1646" y="5347"/>
              <a:ext cx="1754" cy="1054"/>
            </a:xfrm>
            <a:prstGeom prst="roundRect">
              <a:avLst>
                <a:gd name="adj" fmla="val 16419"/>
              </a:avLst>
            </a:prstGeom>
            <a:gradFill>
              <a:gsLst>
                <a:gs pos="0">
                  <a:srgbClr val="C00000">
                    <a:alpha val="40000"/>
                  </a:srgbClr>
                </a:gs>
                <a:gs pos="100000">
                  <a:srgbClr val="C00000">
                    <a:alpha val="15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None/>
              </a:pPr>
              <a:endParaRPr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9" name="文本框 78"/>
            <p:cNvSpPr>
              <a:spLocks noGrp="1"/>
            </p:cNvSpPr>
            <p:nvPr>
              <p:custDataLst>
                <p:tags r:id="rId11"/>
              </p:custDataLst>
            </p:nvPr>
          </p:nvSpPr>
          <p:spPr>
            <a:xfrm>
              <a:off x="1508" y="5289"/>
              <a:ext cx="1644" cy="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sz="2400" b="1">
                  <a:solidFill>
                    <a:schemeClr val="bg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</a:t>
              </a:r>
              <a:r>
                <a:rPr lang="en-US" sz="2400" b="1">
                  <a:solidFill>
                    <a:schemeClr val="bg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</a:t>
              </a:r>
              <a:endParaRPr lang="en-US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76" name="文本框 75"/>
            <p:cNvSpPr>
              <a:spLocks noGrp="1"/>
            </p:cNvSpPr>
            <p:nvPr>
              <p:custDataLst>
                <p:tags r:id="rId12"/>
              </p:custDataLst>
            </p:nvPr>
          </p:nvSpPr>
          <p:spPr>
            <a:xfrm>
              <a:off x="3629" y="5347"/>
              <a:ext cx="8686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sz="2800" b="1" spc="30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/>
                  <a:ea typeface="Arial" panose="020B0604020202020204"/>
                  <a:cs typeface="Arial" panose="020B0604020202020204"/>
                  <a:sym typeface="+mn-ea"/>
                </a:rPr>
                <a:t>GCG </a:t>
              </a:r>
              <a:r>
                <a:rPr lang="zh-CN" altLang="en-US" sz="2800" b="1" spc="30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/>
                  <a:ea typeface="Arial" panose="020B0604020202020204"/>
                  <a:cs typeface="Arial" panose="020B0604020202020204"/>
                  <a:sym typeface="+mn-ea"/>
                </a:rPr>
                <a:t>方法</a:t>
              </a:r>
              <a:endParaRPr lang="zh-CN" sz="2800" b="1" spc="300"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3" name="圆角矩形 92"/>
            <p:cNvSpPr>
              <a:spLocks noGrp="1"/>
            </p:cNvSpPr>
            <p:nvPr>
              <p:custDataLst>
                <p:tags r:id="rId13"/>
              </p:custDataLst>
            </p:nvPr>
          </p:nvSpPr>
          <p:spPr>
            <a:xfrm>
              <a:off x="1453" y="7692"/>
              <a:ext cx="1754" cy="1054"/>
            </a:xfrm>
            <a:prstGeom prst="roundRect">
              <a:avLst>
                <a:gd name="adj" fmla="val 16419"/>
              </a:avLst>
            </a:prstGeom>
            <a:gradFill>
              <a:gsLst>
                <a:gs pos="0">
                  <a:srgbClr val="C00000">
                    <a:alpha val="72000"/>
                  </a:srgbClr>
                </a:gs>
                <a:gs pos="100000">
                  <a:srgbClr val="C00000">
                    <a:alpha val="47000"/>
                  </a:srgb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None/>
              </a:pPr>
              <a:endParaRPr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4" name="圆角矩形 93"/>
            <p:cNvSpPr>
              <a:spLocks noGrp="1"/>
            </p:cNvSpPr>
            <p:nvPr>
              <p:custDataLst>
                <p:tags r:id="rId14"/>
              </p:custDataLst>
            </p:nvPr>
          </p:nvSpPr>
          <p:spPr>
            <a:xfrm>
              <a:off x="1646" y="7830"/>
              <a:ext cx="1754" cy="1054"/>
            </a:xfrm>
            <a:prstGeom prst="roundRect">
              <a:avLst>
                <a:gd name="adj" fmla="val 16419"/>
              </a:avLst>
            </a:prstGeom>
            <a:gradFill>
              <a:gsLst>
                <a:gs pos="0">
                  <a:srgbClr val="C00000">
                    <a:alpha val="40000"/>
                  </a:srgbClr>
                </a:gs>
                <a:gs pos="100000">
                  <a:srgbClr val="C00000">
                    <a:alpha val="15000"/>
                  </a:srgbClr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buNone/>
              </a:pPr>
              <a:endParaRPr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5" name="文本框 94"/>
            <p:cNvSpPr>
              <a:spLocks noGrp="1"/>
            </p:cNvSpPr>
            <p:nvPr>
              <p:custDataLst>
                <p:tags r:id="rId15"/>
              </p:custDataLst>
            </p:nvPr>
          </p:nvSpPr>
          <p:spPr>
            <a:xfrm>
              <a:off x="1508" y="7772"/>
              <a:ext cx="1644" cy="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sz="2400" b="1">
                  <a:solidFill>
                    <a:schemeClr val="bg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</a:t>
              </a:r>
              <a:r>
                <a:rPr lang="en-US" sz="2400" b="1">
                  <a:solidFill>
                    <a:schemeClr val="bg1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3</a:t>
              </a:r>
              <a:endParaRPr lang="en-US" sz="2400" b="1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92" name="文本框 91"/>
            <p:cNvSpPr>
              <a:spLocks noGrp="1"/>
            </p:cNvSpPr>
            <p:nvPr>
              <p:custDataLst>
                <p:tags r:id="rId16"/>
              </p:custDataLst>
            </p:nvPr>
          </p:nvSpPr>
          <p:spPr>
            <a:xfrm>
              <a:off x="3629" y="7830"/>
              <a:ext cx="8686" cy="82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zh-CN" sz="2800" b="1" spc="300">
                  <a:gradFill>
                    <a:gsLst>
                      <a:gs pos="0">
                        <a:schemeClr val="tx1">
                          <a:lumMod val="95000"/>
                          <a:lumOff val="5000"/>
                        </a:schemeClr>
                      </a:gs>
                      <a:gs pos="10000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1"/>
                  </a:gradFill>
                  <a:latin typeface="Arial" panose="020B0604020202020204"/>
                  <a:ea typeface="Arial" panose="020B0604020202020204"/>
                  <a:cs typeface="Arial" panose="020B0604020202020204"/>
                  <a:sym typeface="+mn-ea"/>
                </a:rPr>
                <a:t>实验与洞察</a:t>
              </a:r>
              <a:endParaRPr sz="2800" b="1" spc="300">
                <a:gradFill>
                  <a:gsLst>
                    <a:gs pos="0">
                      <a:schemeClr val="tx1">
                        <a:lumMod val="95000"/>
                        <a:lumOff val="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pic>
        <p:nvPicPr>
          <p:cNvPr id="13" name="图片 12" descr="QQ_179051888149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487160" y="1200150"/>
            <a:ext cx="4827270" cy="5252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>
            <a:spLocks noGrp="1"/>
          </p:cNvSpPr>
          <p:nvPr/>
        </p:nvSpPr>
        <p:spPr>
          <a:xfrm>
            <a:off x="4886512" y="1587570"/>
            <a:ext cx="2752677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8000" b="1">
                <a:ln w="47625">
                  <a:gradFill>
                    <a:gsLst>
                      <a:gs pos="0">
                        <a:srgbClr val="C00000"/>
                      </a:gs>
                      <a:gs pos="70000">
                        <a:srgbClr val="C0000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00000">
                        <a:alpha val="13000"/>
                      </a:srgbClr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18000" b="1">
              <a:ln w="47625" cap="rnd">
                <a:gradFill>
                  <a:gsLst>
                    <a:gs pos="0">
                      <a:srgbClr val="C00000"/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00000">
                      <a:alpha val="13000"/>
                    </a:srgbClr>
                  </a:gs>
                  <a:gs pos="70000">
                    <a:srgbClr val="C00000">
                      <a:alpha val="0"/>
                    </a:srgbClr>
                  </a:gs>
                </a:gsLst>
                <a:lin ang="5400000" scaled="1"/>
              </a:gra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3926175" y="3573006"/>
            <a:ext cx="530145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5400" b="1" spc="300">
                <a:gradFill>
                  <a:gsLst>
                    <a:gs pos="0">
                      <a:srgbClr val="C00000"/>
                    </a:gs>
                    <a:gs pos="100000">
                      <a:srgbClr val="F87768"/>
                    </a:gs>
                  </a:gsLst>
                  <a:lin ang="5400000" scaled="0"/>
                </a:gradFill>
                <a:latin typeface="Arial" panose="020B0604020202020204"/>
                <a:ea typeface="Arial" panose="020B0604020202020204"/>
                <a:cs typeface="Arial" panose="020B0604020202020204"/>
              </a:rPr>
              <a:t>研究问题与贡献</a:t>
            </a:r>
            <a:endParaRPr sz="5400" b="1" spc="300">
              <a:gradFill>
                <a:gsLst>
                  <a:gs pos="0">
                    <a:srgbClr val="C00000"/>
                  </a:gs>
                  <a:gs pos="100000">
                    <a:srgbClr val="F87768"/>
                  </a:gs>
                </a:gsLst>
                <a:lin ang="5400000" scaled="0"/>
              </a:gra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3410342" y="4449892"/>
            <a:ext cx="560214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spc="3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WHY AUTOMATED ADVERSARIAL SEARCH MATTERS</a:t>
            </a:r>
            <a:endParaRPr sz="2800" spc="3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-1"/>
            <a:ext cx="12192000" cy="70626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708047"/>
            <a:ext cx="12192000" cy="132378"/>
          </a:xfrm>
          <a:prstGeom prst="rect">
            <a:avLst/>
          </a:prstGeom>
          <a:gradFill>
            <a:gsLst>
              <a:gs pos="0">
                <a:srgbClr val="C00000">
                  <a:alpha val="32000"/>
                </a:srgbClr>
              </a:gs>
              <a:gs pos="100000">
                <a:srgbClr val="C00000">
                  <a:lumMod val="94000"/>
                  <a:lumOff val="6000"/>
                  <a:alpha val="2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0" y="6453336"/>
            <a:ext cx="12192000" cy="404665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5" name="图片 4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840416" y="140547"/>
            <a:ext cx="2031325" cy="403124"/>
          </a:xfrm>
          <a:prstGeom prst="rect">
            <a:avLst/>
          </a:prstGeom>
        </p:spPr>
      </p:pic>
      <p:pic>
        <p:nvPicPr>
          <p:cNvPr id="36" name="图片 9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8996245" y="6572902"/>
            <a:ext cx="3038389" cy="185483"/>
          </a:xfrm>
          <a:prstGeom prst="rect">
            <a:avLst/>
          </a:prstGeom>
        </p:spPr>
      </p:pic>
      <p:pic>
        <p:nvPicPr>
          <p:cNvPr id="37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00" y="6453336"/>
            <a:ext cx="2362200" cy="482600"/>
          </a:xfrm>
          <a:prstGeom prst="rect">
            <a:avLst/>
          </a:prstGeom>
        </p:spPr>
      </p:pic>
      <p:sp>
        <p:nvSpPr>
          <p:cNvPr id="26" name="文本框 25"/>
          <p:cNvSpPr>
            <a:spLocks noGrp="1"/>
          </p:cNvSpPr>
          <p:nvPr/>
        </p:nvSpPr>
        <p:spPr>
          <a:xfrm>
            <a:off x="175107" y="116852"/>
            <a:ext cx="5469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24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01</a:t>
            </a:r>
            <a:endParaRPr sz="24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直线连接符 26"/>
          <p:cNvSpPr>
            <a:spLocks noGrp="1"/>
          </p:cNvSpPr>
          <p:nvPr/>
        </p:nv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文本框 27"/>
          <p:cNvSpPr>
            <a:spLocks noGrp="1"/>
          </p:cNvSpPr>
          <p:nvPr/>
        </p:nvSpPr>
        <p:spPr>
          <a:xfrm>
            <a:off x="1008331" y="124472"/>
            <a:ext cx="155956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lang="zh-CN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研究背景</a:t>
            </a:r>
            <a:endParaRPr lang="zh-CN" sz="2400" b="1" spc="30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21678" y="1409383"/>
            <a:ext cx="10512425" cy="4679950"/>
          </a:xfrm>
          <a:prstGeom prst="roundRect">
            <a:avLst>
              <a:gd name="adj" fmla="val 3370"/>
            </a:avLst>
          </a:prstGeom>
          <a:solidFill>
            <a:srgbClr val="C00000">
              <a:alpha val="10000"/>
            </a:srgb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6054434" y="3429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endParaRPr spc="6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文本框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206500" y="1600200"/>
            <a:ext cx="42545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r>
              <a:rPr lang="zh-CN"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</a:t>
            </a:r>
            <a:r>
              <a:rPr lang="zh-CN"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的背景</a:t>
            </a:r>
            <a:endParaRPr lang="zh-CN" sz="2400" b="1">
              <a:solidFill>
                <a:srgbClr val="C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206500" y="2133600"/>
            <a:ext cx="4445000" cy="3596640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</a:t>
            </a:r>
            <a:r>
              <a:rPr lang="zh-CN" altLang="en-US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模型是通过网上的大量的文本内容进行训练的，会学习到有害的知识。</a:t>
            </a:r>
            <a:endParaRPr lang="zh-CN" altLang="en-US" sz="20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800"/>
              </a:spcAft>
              <a:buNone/>
            </a:pPr>
            <a:endParaRPr sz="20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en-US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研究对象：经过安全对齐的语言模型</a:t>
            </a:r>
            <a:r>
              <a:rPr lang="zh-CN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altLang="en-US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这里的对齐是指让模型不产生有害的内容，但并不意味着删掉学到</a:t>
            </a:r>
            <a:r>
              <a:rPr lang="zh-CN" altLang="en-US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的知识</a:t>
            </a:r>
            <a:r>
              <a:rPr lang="zh-CN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20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800"/>
              </a:spcAft>
              <a:buNone/>
            </a:pPr>
            <a:endParaRPr sz="20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413500" y="1600200"/>
            <a:ext cx="43180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r>
              <a:rPr lang="zh-CN"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此前存在的</a:t>
            </a:r>
            <a:r>
              <a:rPr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2400" b="1">
              <a:solidFill>
                <a:srgbClr val="C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6413500" y="2171700"/>
            <a:ext cx="42545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endParaRPr sz="25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6413500" y="2133600"/>
            <a:ext cx="4554855" cy="30118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此前，可以通过人类精心设计和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Automatic Prompt-tuning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成功实现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jailbreak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altLang="zh-CN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一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是人工设计需要费时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费力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二是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LLM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的输入是离散的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</a:rPr>
              <a:t>token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，如果要实现自动攻击，存在一个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困难的离散搜索问题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-1"/>
            <a:ext cx="12192000" cy="70626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708047"/>
            <a:ext cx="12192000" cy="132378"/>
          </a:xfrm>
          <a:prstGeom prst="rect">
            <a:avLst/>
          </a:prstGeom>
          <a:gradFill>
            <a:gsLst>
              <a:gs pos="0">
                <a:srgbClr val="C00000">
                  <a:alpha val="32000"/>
                </a:srgbClr>
              </a:gs>
              <a:gs pos="100000">
                <a:srgbClr val="C00000">
                  <a:lumMod val="94000"/>
                  <a:lumOff val="6000"/>
                  <a:alpha val="2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0" y="6453336"/>
            <a:ext cx="12192000" cy="404665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5" name="图片 4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840416" y="140547"/>
            <a:ext cx="2031325" cy="403124"/>
          </a:xfrm>
          <a:prstGeom prst="rect">
            <a:avLst/>
          </a:prstGeom>
        </p:spPr>
      </p:pic>
      <p:pic>
        <p:nvPicPr>
          <p:cNvPr id="36" name="图片 9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8996245" y="6572902"/>
            <a:ext cx="3038389" cy="185483"/>
          </a:xfrm>
          <a:prstGeom prst="rect">
            <a:avLst/>
          </a:prstGeom>
        </p:spPr>
      </p:pic>
      <p:pic>
        <p:nvPicPr>
          <p:cNvPr id="37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00" y="6453336"/>
            <a:ext cx="2362200" cy="482600"/>
          </a:xfrm>
          <a:prstGeom prst="rect">
            <a:avLst/>
          </a:prstGeom>
        </p:spPr>
      </p:pic>
      <p:sp>
        <p:nvSpPr>
          <p:cNvPr id="26" name="文本框 25"/>
          <p:cNvSpPr>
            <a:spLocks noGrp="1"/>
          </p:cNvSpPr>
          <p:nvPr/>
        </p:nvSpPr>
        <p:spPr>
          <a:xfrm>
            <a:off x="175107" y="116852"/>
            <a:ext cx="5469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24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24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直线连接符 26"/>
          <p:cNvSpPr>
            <a:spLocks noGrp="1"/>
          </p:cNvSpPr>
          <p:nvPr/>
        </p:nv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文本框 27"/>
          <p:cNvSpPr>
            <a:spLocks noGrp="1"/>
          </p:cNvSpPr>
          <p:nvPr/>
        </p:nvSpPr>
        <p:spPr>
          <a:xfrm>
            <a:off x="1008331" y="124472"/>
            <a:ext cx="330090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攻击设定与核心思路</a:t>
            </a:r>
            <a:endParaRPr sz="2400" b="1" spc="30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39788" y="1341438"/>
            <a:ext cx="10512425" cy="4679950"/>
          </a:xfrm>
          <a:prstGeom prst="roundRect">
            <a:avLst>
              <a:gd name="adj" fmla="val 3370"/>
            </a:avLst>
          </a:prstGeom>
          <a:solidFill>
            <a:srgbClr val="C00000">
              <a:alpha val="10000"/>
            </a:srgb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6054434" y="3429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endParaRPr spc="6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1270000" y="1587500"/>
            <a:ext cx="96520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r>
              <a:rPr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输入结构</a:t>
            </a:r>
            <a:endParaRPr sz="2400" b="1">
              <a:solidFill>
                <a:srgbClr val="C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1270000" y="2387600"/>
            <a:ext cx="9652000" cy="62547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pPr algn="ctr">
              <a:buNone/>
            </a:pPr>
            <a:r>
              <a:rPr lang="zh-CN" sz="29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危险</a:t>
            </a:r>
            <a:r>
              <a:rPr sz="29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  </a:t>
            </a:r>
            <a:r>
              <a:rPr sz="29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 </a:t>
            </a:r>
            <a:r>
              <a:rPr sz="29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可优化的 </a:t>
            </a:r>
            <a:r>
              <a:rPr sz="29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 </a:t>
            </a:r>
            <a:r>
              <a:rPr sz="29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后缀</a:t>
            </a:r>
            <a:endParaRPr sz="2900" b="1">
              <a:solidFill>
                <a:srgbClr val="C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1320800" y="4940935"/>
            <a:ext cx="96520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pPr algn="ctr">
              <a:buNone/>
            </a:pPr>
            <a:r>
              <a:rPr sz="2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模型原本拒绝回答，后缀改变其生成分布</a:t>
            </a:r>
            <a:endParaRPr sz="2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1270000" y="3429000"/>
            <a:ext cx="96520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r>
              <a:rPr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优化目标</a:t>
            </a:r>
            <a:endParaRPr sz="2400" b="1">
              <a:solidFill>
                <a:srgbClr val="C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1270000" y="3798570"/>
            <a:ext cx="9652000" cy="1087120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pPr algn="ctr">
              <a:buNone/>
            </a:pPr>
            <a:r>
              <a:rPr lang="zh-CN" sz="27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目标回答的前缀要肯定地重复用户地需求</a:t>
            </a:r>
            <a:endParaRPr sz="27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</a:pPr>
            <a:r>
              <a:rPr lang="zh-CN" sz="27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</a:t>
            </a:r>
            <a:r>
              <a:rPr sz="2700" b="1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提高模型以肯定式前缀开始回答的概率</a:t>
            </a:r>
            <a:endParaRPr sz="2700" b="1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>
            <a:spLocks noGrp="1"/>
          </p:cNvSpPr>
          <p:nvPr/>
        </p:nvSpPr>
        <p:spPr>
          <a:xfrm>
            <a:off x="4886512" y="1587570"/>
            <a:ext cx="2752677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8000" b="1">
                <a:ln w="47625">
                  <a:gradFill>
                    <a:gsLst>
                      <a:gs pos="0">
                        <a:srgbClr val="C00000"/>
                      </a:gs>
                      <a:gs pos="70000">
                        <a:srgbClr val="C0000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00000">
                        <a:alpha val="13000"/>
                      </a:srgbClr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sz="18000" b="1">
              <a:ln w="47625" cap="rnd">
                <a:gradFill>
                  <a:gsLst>
                    <a:gs pos="0">
                      <a:srgbClr val="C00000"/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00000">
                      <a:alpha val="13000"/>
                    </a:srgbClr>
                  </a:gs>
                  <a:gs pos="70000">
                    <a:srgbClr val="C00000">
                      <a:alpha val="0"/>
                    </a:srgbClr>
                  </a:gs>
                </a:gsLst>
                <a:lin ang="5400000" scaled="1"/>
              </a:gra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3926175" y="3573006"/>
            <a:ext cx="407034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5400" b="1" spc="300">
                <a:gradFill>
                  <a:gsLst>
                    <a:gs pos="0">
                      <a:srgbClr val="C00000"/>
                    </a:gs>
                    <a:gs pos="100000">
                      <a:srgbClr val="F87768"/>
                    </a:gs>
                  </a:gsLst>
                  <a:lin ang="5400000" scaled="0"/>
                </a:gradFill>
                <a:latin typeface="Arial" panose="020B0604020202020204"/>
                <a:ea typeface="Arial" panose="020B0604020202020204"/>
                <a:cs typeface="Arial" panose="020B0604020202020204"/>
              </a:rPr>
              <a:t>方法：</a:t>
            </a:r>
            <a:r>
              <a:rPr sz="5400" b="1" spc="300">
                <a:gradFill>
                  <a:gsLst>
                    <a:gs pos="0">
                      <a:srgbClr val="C00000"/>
                    </a:gs>
                    <a:gs pos="100000">
                      <a:srgbClr val="F87768"/>
                    </a:gs>
                  </a:gsLst>
                  <a:lin ang="5400000" scaled="0"/>
                </a:gradFill>
                <a:latin typeface="Arial" panose="020B0604020202020204"/>
                <a:ea typeface="Arial" panose="020B0604020202020204"/>
                <a:cs typeface="Arial" panose="020B0604020202020204"/>
              </a:rPr>
              <a:t>GCG</a:t>
            </a:r>
            <a:endParaRPr sz="5400" b="1" spc="300">
              <a:gradFill>
                <a:gsLst>
                  <a:gs pos="0">
                    <a:srgbClr val="C00000"/>
                  </a:gs>
                  <a:gs pos="100000">
                    <a:srgbClr val="F87768"/>
                  </a:gs>
                </a:gsLst>
                <a:lin ang="5400000" scaled="0"/>
              </a:gra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3410342" y="4449892"/>
            <a:ext cx="56021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spc="3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GREEDY COORDINATE GRADIENT</a:t>
            </a:r>
            <a:endParaRPr sz="2800" spc="3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-1"/>
            <a:ext cx="12192000" cy="70626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708047"/>
            <a:ext cx="12192000" cy="132378"/>
          </a:xfrm>
          <a:prstGeom prst="rect">
            <a:avLst/>
          </a:prstGeom>
          <a:gradFill>
            <a:gsLst>
              <a:gs pos="0">
                <a:srgbClr val="C00000">
                  <a:alpha val="32000"/>
                </a:srgbClr>
              </a:gs>
              <a:gs pos="100000">
                <a:srgbClr val="C00000">
                  <a:lumMod val="94000"/>
                  <a:lumOff val="6000"/>
                  <a:alpha val="2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0" y="6453336"/>
            <a:ext cx="12192000" cy="404665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5" name="图片 4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840416" y="140547"/>
            <a:ext cx="2031325" cy="403124"/>
          </a:xfrm>
          <a:prstGeom prst="rect">
            <a:avLst/>
          </a:prstGeom>
        </p:spPr>
      </p:pic>
      <p:pic>
        <p:nvPicPr>
          <p:cNvPr id="36" name="图片 9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8996245" y="6572902"/>
            <a:ext cx="3038389" cy="185483"/>
          </a:xfrm>
          <a:prstGeom prst="rect">
            <a:avLst/>
          </a:prstGeom>
        </p:spPr>
      </p:pic>
      <p:pic>
        <p:nvPicPr>
          <p:cNvPr id="37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00" y="6453336"/>
            <a:ext cx="2362200" cy="482600"/>
          </a:xfrm>
          <a:prstGeom prst="rect">
            <a:avLst/>
          </a:prstGeom>
        </p:spPr>
      </p:pic>
      <p:sp>
        <p:nvSpPr>
          <p:cNvPr id="26" name="文本框 25"/>
          <p:cNvSpPr>
            <a:spLocks noGrp="1"/>
          </p:cNvSpPr>
          <p:nvPr/>
        </p:nvSpPr>
        <p:spPr>
          <a:xfrm>
            <a:off x="175107" y="116852"/>
            <a:ext cx="5469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24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24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直线连接符 26"/>
          <p:cNvSpPr>
            <a:spLocks noGrp="1"/>
          </p:cNvSpPr>
          <p:nvPr/>
        </p:nv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文本框 27"/>
          <p:cNvSpPr>
            <a:spLocks noGrp="1"/>
          </p:cNvSpPr>
          <p:nvPr/>
        </p:nvSpPr>
        <p:spPr>
          <a:xfrm>
            <a:off x="1008331" y="124472"/>
            <a:ext cx="155956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lang="zh-CN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损失</a:t>
            </a:r>
            <a:r>
              <a:rPr lang="zh-CN"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函数</a:t>
            </a:r>
            <a:endParaRPr lang="zh-CN" sz="2400" b="1" spc="30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39788" y="1341438"/>
            <a:ext cx="10512425" cy="4679950"/>
          </a:xfrm>
          <a:prstGeom prst="roundRect">
            <a:avLst>
              <a:gd name="adj" fmla="val 3370"/>
            </a:avLst>
          </a:prstGeom>
          <a:solidFill>
            <a:srgbClr val="C00000">
              <a:alpha val="10000"/>
            </a:srgb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6054434" y="3429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endParaRPr spc="6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文本框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270000" y="1587500"/>
            <a:ext cx="41910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r>
              <a:rPr lang="zh-CN"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损失函数的</a:t>
            </a:r>
            <a:r>
              <a:rPr lang="zh-CN"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设计</a:t>
            </a:r>
            <a:endParaRPr lang="zh-CN" sz="2400" b="1">
              <a:solidFill>
                <a:srgbClr val="C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270000" y="2159000"/>
            <a:ext cx="9774555" cy="3495040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endParaRPr sz="21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图片 8" descr="QQ_17905095778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0000" y="2208530"/>
            <a:ext cx="5325110" cy="999490"/>
          </a:xfrm>
          <a:prstGeom prst="rect">
            <a:avLst/>
          </a:prstGeom>
        </p:spPr>
      </p:pic>
      <p:pic>
        <p:nvPicPr>
          <p:cNvPr id="10" name="图片 9" descr="QQ_17905095403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0000" y="3798570"/>
            <a:ext cx="3448050" cy="11303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772275" y="2265045"/>
                <a:ext cx="4272280" cy="7124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</m:ctrlPr>
                        </m:sSubSupPr>
                        <m:e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: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+</m:t>
                          </m:r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𝐻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sz="2000" i="1"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:</m:t>
                      </m:r>
                      <m:r>
                        <a:rPr lang="zh-CN" altLang="en-US" sz="2000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目标</m:t>
                      </m:r>
                      <m:r>
                        <a:rPr lang="en-US" altLang="zh-CN" sz="2000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𝑡𝑜𝑘𝑒𝑛</m:t>
                      </m:r>
                      <m:r>
                        <a:rPr lang="zh-CN" altLang="en-US" sz="2000" i="1">
                          <a:latin typeface="Cambria Math" panose="02040503050406030204" charset="0"/>
                          <a:ea typeface="微软雅黑" panose="020B0503020204020204" charset="-122"/>
                          <a:cs typeface="Cambria Math" panose="02040503050406030204" charset="0"/>
                        </a:rPr>
                        <m:t>序列</m:t>
                      </m:r>
                    </m:oMath>
                  </m:oMathPara>
                </a14:m>
                <a:endParaRPr lang="zh-CN" altLang="en-US" sz="2000" i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1</m:t>
                        </m:r>
                        <m:r>
                          <a:rPr lang="en-US" altLang="zh-CN" sz="2000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:</m:t>
                        </m:r>
                        <m:r>
                          <a:rPr lang="en-US" altLang="zh-CN" sz="2000" i="1">
                            <a:latin typeface="Cambria Math" panose="02040503050406030204" charset="0"/>
                            <a:ea typeface="微软雅黑" panose="020B0503020204020204" charset="-122"/>
                            <a:cs typeface="Cambria Math" panose="02040503050406030204" charset="0"/>
                          </a:rPr>
                          <m:t>𝑛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:</m:t>
                    </m:r>
                  </m:oMath>
                </a14:m>
                <a:r>
                  <a:rPr lang="en-US" altLang="zh-CN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:r>
                  <a:rPr lang="zh-CN" altLang="en-US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危险请求</a:t>
                </a:r>
                <a:r>
                  <a:rPr lang="en-US" altLang="zh-CN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+</a:t>
                </a:r>
                <a:r>
                  <a:rPr lang="zh-CN" altLang="en-US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对抗性</a:t>
                </a:r>
                <a:r>
                  <a:rPr lang="en-US" altLang="zh-CN" sz="200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suffix</a:t>
                </a:r>
                <a:endParaRPr lang="en-US" alt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275" y="2265045"/>
                <a:ext cx="4272280" cy="71247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101715" y="3872230"/>
            <a:ext cx="364172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用户原始请求保持不变，只优化后面附加的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suffix token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-1"/>
            <a:ext cx="12192000" cy="70626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708047"/>
            <a:ext cx="12192000" cy="132378"/>
          </a:xfrm>
          <a:prstGeom prst="rect">
            <a:avLst/>
          </a:prstGeom>
          <a:gradFill>
            <a:gsLst>
              <a:gs pos="0">
                <a:srgbClr val="C00000">
                  <a:alpha val="32000"/>
                </a:srgbClr>
              </a:gs>
              <a:gs pos="100000">
                <a:srgbClr val="C00000">
                  <a:lumMod val="94000"/>
                  <a:lumOff val="6000"/>
                  <a:alpha val="2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0" y="6453336"/>
            <a:ext cx="12192000" cy="404665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6" name="图片 4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840416" y="140547"/>
            <a:ext cx="2031325" cy="403124"/>
          </a:xfrm>
          <a:prstGeom prst="rect">
            <a:avLst/>
          </a:prstGeom>
        </p:spPr>
      </p:pic>
      <p:pic>
        <p:nvPicPr>
          <p:cNvPr id="37" name="图片 9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8996245" y="6572902"/>
            <a:ext cx="3038389" cy="185483"/>
          </a:xfrm>
          <a:prstGeom prst="rect">
            <a:avLst/>
          </a:prstGeom>
        </p:spPr>
      </p:pic>
      <p:pic>
        <p:nvPicPr>
          <p:cNvPr id="38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00" y="6453336"/>
            <a:ext cx="2362200" cy="482600"/>
          </a:xfrm>
          <a:prstGeom prst="rect">
            <a:avLst/>
          </a:prstGeom>
        </p:spPr>
      </p:pic>
      <p:sp>
        <p:nvSpPr>
          <p:cNvPr id="26" name="文本框 25"/>
          <p:cNvSpPr>
            <a:spLocks noGrp="1"/>
          </p:cNvSpPr>
          <p:nvPr/>
        </p:nvSpPr>
        <p:spPr>
          <a:xfrm>
            <a:off x="175107" y="116852"/>
            <a:ext cx="5469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24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04</a:t>
            </a:r>
            <a:endParaRPr sz="24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直线连接符 26"/>
          <p:cNvSpPr>
            <a:spLocks noGrp="1"/>
          </p:cNvSpPr>
          <p:nvPr/>
        </p:nv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文本框 27"/>
          <p:cNvSpPr>
            <a:spLocks noGrp="1"/>
          </p:cNvSpPr>
          <p:nvPr/>
        </p:nvSpPr>
        <p:spPr>
          <a:xfrm>
            <a:off x="1008331" y="124472"/>
            <a:ext cx="77829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Algorithm 1</a:t>
            </a:r>
            <a:r>
              <a:rPr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：</a:t>
            </a:r>
            <a:r>
              <a:rPr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Greedy Coordinate Gradient</a:t>
            </a:r>
            <a:endParaRPr sz="2400" b="1" spc="30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39788" y="1341438"/>
            <a:ext cx="10512425" cy="4679950"/>
          </a:xfrm>
          <a:prstGeom prst="roundRect">
            <a:avLst>
              <a:gd name="adj" fmla="val 3370"/>
            </a:avLst>
          </a:prstGeom>
          <a:solidFill>
            <a:srgbClr val="C00000">
              <a:alpha val="10000"/>
            </a:srgb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6054434" y="3429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endParaRPr spc="6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4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05" y="1722120"/>
            <a:ext cx="7310755" cy="40062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290560" y="1634490"/>
            <a:ext cx="2948940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计算每个可修改位置的梯度（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one-hot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编码）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随机选一个可修改位置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-&gt;从该位置的 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Top-k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中随机选一个进行替换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生成一个候选 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</a:t>
            </a: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次，就得到一批候选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-1"/>
            <a:ext cx="12192000" cy="70626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708047"/>
            <a:ext cx="12192000" cy="132378"/>
          </a:xfrm>
          <a:prstGeom prst="rect">
            <a:avLst/>
          </a:prstGeom>
          <a:gradFill>
            <a:gsLst>
              <a:gs pos="0">
                <a:srgbClr val="C00000">
                  <a:alpha val="32000"/>
                </a:srgbClr>
              </a:gs>
              <a:gs pos="100000">
                <a:srgbClr val="C00000">
                  <a:lumMod val="94000"/>
                  <a:lumOff val="6000"/>
                  <a:alpha val="2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0" y="6453336"/>
            <a:ext cx="12192000" cy="404665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5" name="图片 4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840416" y="140547"/>
            <a:ext cx="2031325" cy="403124"/>
          </a:xfrm>
          <a:prstGeom prst="rect">
            <a:avLst/>
          </a:prstGeom>
        </p:spPr>
      </p:pic>
      <p:pic>
        <p:nvPicPr>
          <p:cNvPr id="36" name="图片 9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8996245" y="6572902"/>
            <a:ext cx="3038389" cy="185483"/>
          </a:xfrm>
          <a:prstGeom prst="rect">
            <a:avLst/>
          </a:prstGeom>
        </p:spPr>
      </p:pic>
      <p:pic>
        <p:nvPicPr>
          <p:cNvPr id="37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00" y="6453336"/>
            <a:ext cx="2362200" cy="482600"/>
          </a:xfrm>
          <a:prstGeom prst="rect">
            <a:avLst/>
          </a:prstGeom>
        </p:spPr>
      </p:pic>
      <p:sp>
        <p:nvSpPr>
          <p:cNvPr id="26" name="文本框 25"/>
          <p:cNvSpPr>
            <a:spLocks noGrp="1"/>
          </p:cNvSpPr>
          <p:nvPr/>
        </p:nvSpPr>
        <p:spPr>
          <a:xfrm>
            <a:off x="175107" y="116852"/>
            <a:ext cx="5469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24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05</a:t>
            </a:r>
            <a:endParaRPr sz="24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直线连接符 26"/>
          <p:cNvSpPr>
            <a:spLocks noGrp="1"/>
          </p:cNvSpPr>
          <p:nvPr/>
        </p:nv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文本框 27"/>
          <p:cNvSpPr>
            <a:spLocks noGrp="1"/>
          </p:cNvSpPr>
          <p:nvPr/>
        </p:nvSpPr>
        <p:spPr>
          <a:xfrm>
            <a:off x="1008331" y="124472"/>
            <a:ext cx="155956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通用攻击</a:t>
            </a:r>
            <a:endParaRPr sz="2400" b="1" spc="30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39788" y="1341438"/>
            <a:ext cx="10512425" cy="4679950"/>
          </a:xfrm>
          <a:prstGeom prst="roundRect">
            <a:avLst>
              <a:gd name="adj" fmla="val 3370"/>
            </a:avLst>
          </a:prstGeom>
          <a:solidFill>
            <a:srgbClr val="C00000">
              <a:alpha val="10000"/>
            </a:srgb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6054434" y="3429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endParaRPr spc="6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文本框 5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206500" y="1587500"/>
            <a:ext cx="44450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r>
              <a:rPr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同一个后缀覆盖多个请求</a:t>
            </a:r>
            <a:endParaRPr sz="2400" b="1">
              <a:solidFill>
                <a:srgbClr val="C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206500" y="2108200"/>
            <a:ext cx="45720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</a:t>
            </a:r>
            <a:r>
              <a:rPr lang="zh-CN"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个prompt</a:t>
            </a:r>
            <a:r>
              <a:rPr lang="zh-CN" altLang="en-US"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分别设计与其对应的肯定式前缀，得出</a:t>
            </a:r>
            <a:r>
              <a:rPr lang="zh-CN"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各自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的损失</a:t>
            </a:r>
            <a:r>
              <a:rPr lang="zh-CN"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，但共享同一段 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suffix</a:t>
            </a:r>
            <a:endParaRPr sz="21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聚合各 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 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的梯度筛选候选</a:t>
            </a:r>
            <a:endParaRPr sz="21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聚合真实损失选择最佳替换</a:t>
            </a:r>
            <a:endParaRPr sz="21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413500" y="1587500"/>
            <a:ext cx="44450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r>
              <a:rPr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逐步增加难度</a:t>
            </a:r>
            <a:endParaRPr sz="2400" b="1">
              <a:solidFill>
                <a:srgbClr val="C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413500" y="2108200"/>
            <a:ext cx="44450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先让后缀在第一个 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 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上成功</a:t>
            </a:r>
            <a:endParaRPr sz="21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再按顺序加入新的 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</a:t>
            </a:r>
            <a:endParaRPr sz="21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 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tokenizer </a:t>
            </a:r>
            <a:r>
              <a:rPr sz="21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的多个模型可共同优化</a:t>
            </a:r>
            <a:endParaRPr sz="21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1206500" y="5156200"/>
            <a:ext cx="96520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pPr algn="ctr">
              <a:buNone/>
            </a:pPr>
            <a:r>
              <a:rPr sz="22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这一加入策略比一开始同时优化全部</a:t>
            </a:r>
            <a:r>
              <a:rPr lang="zh-CN" sz="22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危险</a:t>
            </a:r>
            <a:r>
              <a:rPr sz="22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请求更稳定。</a:t>
            </a:r>
            <a:endParaRPr sz="2200" b="1">
              <a:solidFill>
                <a:srgbClr val="C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-1"/>
            <a:ext cx="12192000" cy="70626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708047"/>
            <a:ext cx="12192000" cy="132378"/>
          </a:xfrm>
          <a:prstGeom prst="rect">
            <a:avLst/>
          </a:prstGeom>
          <a:gradFill>
            <a:gsLst>
              <a:gs pos="0">
                <a:srgbClr val="C00000">
                  <a:alpha val="32000"/>
                </a:srgbClr>
              </a:gs>
              <a:gs pos="100000">
                <a:srgbClr val="C00000">
                  <a:lumMod val="94000"/>
                  <a:lumOff val="6000"/>
                  <a:alpha val="2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0" y="6453336"/>
            <a:ext cx="12192000" cy="404665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6" name="图片 4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840416" y="140547"/>
            <a:ext cx="2031325" cy="403124"/>
          </a:xfrm>
          <a:prstGeom prst="rect">
            <a:avLst/>
          </a:prstGeom>
        </p:spPr>
      </p:pic>
      <p:pic>
        <p:nvPicPr>
          <p:cNvPr id="37" name="图片 9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8996245" y="6572902"/>
            <a:ext cx="3038389" cy="185483"/>
          </a:xfrm>
          <a:prstGeom prst="rect">
            <a:avLst/>
          </a:prstGeom>
        </p:spPr>
      </p:pic>
      <p:pic>
        <p:nvPicPr>
          <p:cNvPr id="38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00" y="6453336"/>
            <a:ext cx="2362200" cy="482600"/>
          </a:xfrm>
          <a:prstGeom prst="rect">
            <a:avLst/>
          </a:prstGeom>
        </p:spPr>
      </p:pic>
      <p:sp>
        <p:nvSpPr>
          <p:cNvPr id="26" name="文本框 25"/>
          <p:cNvSpPr>
            <a:spLocks noGrp="1"/>
          </p:cNvSpPr>
          <p:nvPr/>
        </p:nvSpPr>
        <p:spPr>
          <a:xfrm>
            <a:off x="175107" y="116852"/>
            <a:ext cx="5469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24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06</a:t>
            </a:r>
            <a:endParaRPr sz="24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直线连接符 26"/>
          <p:cNvSpPr>
            <a:spLocks noGrp="1"/>
          </p:cNvSpPr>
          <p:nvPr/>
        </p:nv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文本框 27"/>
          <p:cNvSpPr>
            <a:spLocks noGrp="1"/>
          </p:cNvSpPr>
          <p:nvPr/>
        </p:nvSpPr>
        <p:spPr>
          <a:xfrm>
            <a:off x="1008331" y="124472"/>
            <a:ext cx="82734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Algorithm 2</a:t>
            </a:r>
            <a:r>
              <a:rPr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：</a:t>
            </a:r>
            <a:r>
              <a:rPr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Universal Prompt Optimization</a:t>
            </a:r>
            <a:endParaRPr sz="2400" b="1" spc="30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39788" y="1341438"/>
            <a:ext cx="10512425" cy="4679950"/>
          </a:xfrm>
          <a:prstGeom prst="roundRect">
            <a:avLst>
              <a:gd name="adj" fmla="val 3370"/>
            </a:avLst>
          </a:prstGeom>
          <a:solidFill>
            <a:srgbClr val="C00000">
              <a:alpha val="10000"/>
            </a:srgb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6054434" y="3429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endParaRPr spc="6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4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35" y="1891665"/>
            <a:ext cx="7429500" cy="36258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255635" y="2921635"/>
            <a:ext cx="288925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注：在聚合梯度之前，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对其进行裁剪，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</a:rPr>
              <a:t>使其具有单位范数。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>
            <a:spLocks noGrp="1"/>
          </p:cNvSpPr>
          <p:nvPr/>
        </p:nvSpPr>
        <p:spPr>
          <a:xfrm>
            <a:off x="4886512" y="1587570"/>
            <a:ext cx="2752677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8000" b="1">
                <a:ln w="47625">
                  <a:gradFill>
                    <a:gsLst>
                      <a:gs pos="0">
                        <a:srgbClr val="C00000"/>
                      </a:gs>
                      <a:gs pos="70000">
                        <a:srgbClr val="C0000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00000">
                        <a:alpha val="13000"/>
                      </a:srgbClr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  <a:latin typeface="Arial" panose="020B0604020202020204"/>
                <a:ea typeface="Arial" panose="020B0604020202020204"/>
                <a:cs typeface="Arial" panose="020B0604020202020204"/>
              </a:rPr>
              <a:t>03</a:t>
            </a:r>
            <a:endParaRPr sz="18000" b="1">
              <a:ln w="47625" cap="rnd">
                <a:gradFill>
                  <a:gsLst>
                    <a:gs pos="0">
                      <a:srgbClr val="C00000"/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00000">
                      <a:alpha val="13000"/>
                    </a:srgbClr>
                  </a:gs>
                  <a:gs pos="70000">
                    <a:srgbClr val="C00000">
                      <a:alpha val="0"/>
                    </a:srgbClr>
                  </a:gs>
                </a:gsLst>
                <a:lin ang="5400000" scaled="1"/>
              </a:gra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3926175" y="3573006"/>
            <a:ext cx="383951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5400" b="1" spc="300">
                <a:gradFill>
                  <a:gsLst>
                    <a:gs pos="0">
                      <a:srgbClr val="C00000"/>
                    </a:gs>
                    <a:gs pos="100000">
                      <a:srgbClr val="F87768"/>
                    </a:gs>
                  </a:gsLst>
                  <a:lin ang="5400000" scaled="0"/>
                </a:gradFill>
                <a:latin typeface="Arial" panose="020B0604020202020204"/>
                <a:ea typeface="Arial" panose="020B0604020202020204"/>
                <a:cs typeface="Arial" panose="020B0604020202020204"/>
              </a:rPr>
              <a:t>实验与洞察</a:t>
            </a:r>
            <a:endParaRPr sz="5400" b="1" spc="300">
              <a:gradFill>
                <a:gsLst>
                  <a:gs pos="0">
                    <a:srgbClr val="C00000"/>
                  </a:gs>
                  <a:gs pos="100000">
                    <a:srgbClr val="F87768"/>
                  </a:gs>
                </a:gsLst>
                <a:lin ang="5400000" scaled="0"/>
              </a:gra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3410342" y="4449892"/>
            <a:ext cx="560214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spc="3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RESULTS, TRANSFERABILITY AND OVERFITTING</a:t>
            </a:r>
            <a:endParaRPr sz="2800" spc="3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-1"/>
            <a:ext cx="12192000" cy="70626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708047"/>
            <a:ext cx="12192000" cy="132378"/>
          </a:xfrm>
          <a:prstGeom prst="rect">
            <a:avLst/>
          </a:prstGeom>
          <a:gradFill>
            <a:gsLst>
              <a:gs pos="0">
                <a:srgbClr val="C00000">
                  <a:alpha val="32000"/>
                </a:srgbClr>
              </a:gs>
              <a:gs pos="100000">
                <a:srgbClr val="C00000">
                  <a:lumMod val="94000"/>
                  <a:lumOff val="6000"/>
                  <a:alpha val="2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0" y="6453336"/>
            <a:ext cx="12192000" cy="404665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5" name="图片 4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840416" y="140547"/>
            <a:ext cx="2031325" cy="403124"/>
          </a:xfrm>
          <a:prstGeom prst="rect">
            <a:avLst/>
          </a:prstGeom>
        </p:spPr>
      </p:pic>
      <p:pic>
        <p:nvPicPr>
          <p:cNvPr id="36" name="图片 9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8996245" y="6572902"/>
            <a:ext cx="3038389" cy="185483"/>
          </a:xfrm>
          <a:prstGeom prst="rect">
            <a:avLst/>
          </a:prstGeom>
        </p:spPr>
      </p:pic>
      <p:pic>
        <p:nvPicPr>
          <p:cNvPr id="37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00" y="6453336"/>
            <a:ext cx="2362200" cy="482600"/>
          </a:xfrm>
          <a:prstGeom prst="rect">
            <a:avLst/>
          </a:prstGeom>
        </p:spPr>
      </p:pic>
      <p:sp>
        <p:nvSpPr>
          <p:cNvPr id="26" name="文本框 25"/>
          <p:cNvSpPr>
            <a:spLocks noGrp="1"/>
          </p:cNvSpPr>
          <p:nvPr/>
        </p:nvSpPr>
        <p:spPr>
          <a:xfrm>
            <a:off x="175107" y="116852"/>
            <a:ext cx="5469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24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07</a:t>
            </a:r>
            <a:endParaRPr sz="24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直线连接符 26"/>
          <p:cNvSpPr>
            <a:spLocks noGrp="1"/>
          </p:cNvSpPr>
          <p:nvPr/>
        </p:nv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文本框 27"/>
          <p:cNvSpPr>
            <a:spLocks noGrp="1"/>
          </p:cNvSpPr>
          <p:nvPr/>
        </p:nvSpPr>
        <p:spPr>
          <a:xfrm>
            <a:off x="1008331" y="124472"/>
            <a:ext cx="330090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实验设计与结论概览</a:t>
            </a:r>
            <a:endParaRPr sz="2400" b="1" spc="30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39788" y="1299528"/>
            <a:ext cx="10512425" cy="4679950"/>
          </a:xfrm>
          <a:prstGeom prst="roundRect">
            <a:avLst>
              <a:gd name="adj" fmla="val 3370"/>
            </a:avLst>
          </a:prstGeom>
          <a:solidFill>
            <a:srgbClr val="C00000">
              <a:alpha val="10000"/>
            </a:srgb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6054434" y="3429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endParaRPr spc="6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1168400" y="1549400"/>
            <a:ext cx="44450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r>
              <a:rPr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AdvBench </a:t>
            </a:r>
            <a:r>
              <a:rPr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与评估设置</a:t>
            </a:r>
            <a:endParaRPr sz="2400" b="1">
              <a:solidFill>
                <a:srgbClr val="C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1168400" y="2032000"/>
            <a:ext cx="4572000" cy="352234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8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sz="18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 </a:t>
            </a:r>
            <a:r>
              <a:rPr sz="18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 </a:t>
            </a:r>
            <a:r>
              <a:rPr sz="18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harmful strings</a:t>
            </a:r>
            <a:r>
              <a:rPr sz="18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，要求精确生成</a:t>
            </a:r>
            <a:endParaRPr sz="185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8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sz="18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500 个 harmful behaviors，判断是否尝试执行</a:t>
            </a:r>
            <a:r>
              <a:rPr lang="zh-CN" sz="18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生成有害内容</a:t>
            </a:r>
            <a:endParaRPr sz="185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8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sz="18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主要指标为攻击成功率 </a:t>
            </a:r>
            <a:r>
              <a:rPr sz="18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ASR</a:t>
            </a:r>
            <a:endParaRPr sz="185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>
            <a:spLocks noGrp="1"/>
          </p:cNvSpPr>
          <p:nvPr/>
        </p:nvSpPr>
        <p:spPr>
          <a:xfrm>
            <a:off x="6477000" y="1549400"/>
            <a:ext cx="44450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r>
              <a:rPr lang="zh-CN"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实验结</a:t>
            </a:r>
            <a:r>
              <a:rPr lang="zh-CN"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</a:t>
            </a:r>
            <a:endParaRPr lang="zh-CN" sz="2400" b="1">
              <a:solidFill>
                <a:srgbClr val="C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6477000" y="2032000"/>
            <a:ext cx="4445000" cy="214185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9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sz="19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GCG </a:t>
            </a:r>
            <a:r>
              <a:rPr sz="19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在白盒设置中明显优于既有基线</a:t>
            </a:r>
            <a:endParaRPr sz="195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9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9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 个 </a:t>
            </a:r>
            <a:r>
              <a:rPr lang="en-US" altLang="zh-CN" sz="19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harmful behaviors</a:t>
            </a:r>
            <a:r>
              <a:rPr lang="zh-CN" altLang="en-US" sz="19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用于训练 </a:t>
            </a:r>
            <a:r>
              <a:rPr lang="en-US" altLang="zh-CN" sz="19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19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00个没参加优化的新行为用于测试，</a:t>
            </a:r>
            <a:r>
              <a:rPr lang="zh-CN" altLang="en-US" sz="19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认为存在</a:t>
            </a:r>
            <a:r>
              <a:rPr lang="en-US" altLang="zh-CN" sz="19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universal suffix</a:t>
            </a:r>
            <a:endParaRPr lang="zh-CN" altLang="en-US" sz="195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19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19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从白盒迁移到黑盒，认为存在</a:t>
            </a:r>
            <a:r>
              <a:rPr lang="en-US" altLang="zh-CN" sz="19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transfe</a:t>
            </a:r>
            <a:r>
              <a:rPr lang="en-US" altLang="zh-CN" sz="195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attack</a:t>
            </a:r>
            <a:endParaRPr lang="en-US" altLang="zh-CN" sz="195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 descr="QQ_17905200817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400" y="3587115"/>
            <a:ext cx="4886960" cy="2213610"/>
          </a:xfrm>
          <a:prstGeom prst="rect">
            <a:avLst/>
          </a:prstGeom>
        </p:spPr>
      </p:pic>
      <p:pic>
        <p:nvPicPr>
          <p:cNvPr id="8" name="图片 7" descr="QQ_179052229326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4247515"/>
            <a:ext cx="4820285" cy="1459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-1"/>
            <a:ext cx="12192000" cy="706266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0" y="708047"/>
            <a:ext cx="12192000" cy="132378"/>
          </a:xfrm>
          <a:prstGeom prst="rect">
            <a:avLst/>
          </a:prstGeom>
          <a:gradFill>
            <a:gsLst>
              <a:gs pos="0">
                <a:srgbClr val="C00000">
                  <a:alpha val="32000"/>
                </a:srgbClr>
              </a:gs>
              <a:gs pos="100000">
                <a:srgbClr val="C00000">
                  <a:lumMod val="94000"/>
                  <a:lumOff val="6000"/>
                  <a:alpha val="2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0" y="6453336"/>
            <a:ext cx="12192000" cy="404665"/>
          </a:xfrm>
          <a:prstGeom prst="rect">
            <a:avLst/>
          </a:prstGeom>
          <a:gradFill>
            <a:gsLst>
              <a:gs pos="0">
                <a:srgbClr val="C00000"/>
              </a:gs>
              <a:gs pos="100000">
                <a:srgbClr val="C00000">
                  <a:lumMod val="94000"/>
                  <a:lumOff val="6000"/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5" name="图片 4"/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9840416" y="140547"/>
            <a:ext cx="2031325" cy="403124"/>
          </a:xfrm>
          <a:prstGeom prst="rect">
            <a:avLst/>
          </a:prstGeom>
        </p:spPr>
      </p:pic>
      <p:pic>
        <p:nvPicPr>
          <p:cNvPr id="36" name="图片 9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8996245" y="6572902"/>
            <a:ext cx="3038389" cy="185483"/>
          </a:xfrm>
          <a:prstGeom prst="rect">
            <a:avLst/>
          </a:prstGeom>
        </p:spPr>
      </p:pic>
      <p:pic>
        <p:nvPicPr>
          <p:cNvPr id="37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00" y="6453336"/>
            <a:ext cx="2362200" cy="482600"/>
          </a:xfrm>
          <a:prstGeom prst="rect">
            <a:avLst/>
          </a:prstGeom>
        </p:spPr>
      </p:pic>
      <p:sp>
        <p:nvSpPr>
          <p:cNvPr id="26" name="文本框 25"/>
          <p:cNvSpPr>
            <a:spLocks noGrp="1"/>
          </p:cNvSpPr>
          <p:nvPr/>
        </p:nvSpPr>
        <p:spPr>
          <a:xfrm>
            <a:off x="175107" y="116852"/>
            <a:ext cx="5469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2400" b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09</a:t>
            </a:r>
            <a:endParaRPr sz="2400" b="1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" name="直线连接符 26"/>
          <p:cNvSpPr>
            <a:spLocks noGrp="1"/>
          </p:cNvSpPr>
          <p:nvPr/>
        </p:nvSpPr>
        <p:spPr>
          <a:xfrm>
            <a:off x="839416" y="124472"/>
            <a:ext cx="0" cy="4188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8" name="文本框 27"/>
          <p:cNvSpPr>
            <a:spLocks noGrp="1"/>
          </p:cNvSpPr>
          <p:nvPr/>
        </p:nvSpPr>
        <p:spPr>
          <a:xfrm>
            <a:off x="1008331" y="124472"/>
            <a:ext cx="87122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2400" b="1" spc="30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讨论</a:t>
            </a:r>
            <a:endParaRPr sz="2400" b="1" spc="30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890588" y="1341438"/>
            <a:ext cx="10512425" cy="4679950"/>
          </a:xfrm>
          <a:prstGeom prst="roundRect">
            <a:avLst>
              <a:gd name="adj" fmla="val 3370"/>
            </a:avLst>
          </a:prstGeom>
          <a:solidFill>
            <a:srgbClr val="C00000">
              <a:alpha val="10000"/>
            </a:srgbClr>
          </a:solidFill>
          <a:ln w="952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" name="文本框 15"/>
          <p:cNvSpPr>
            <a:spLocks noGrp="1"/>
          </p:cNvSpPr>
          <p:nvPr/>
        </p:nvSpPr>
        <p:spPr>
          <a:xfrm>
            <a:off x="6054434" y="3429000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endParaRPr spc="60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1206500" y="1574800"/>
            <a:ext cx="44450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r>
              <a:rPr lang="zh-CN"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讨论</a:t>
            </a:r>
            <a:endParaRPr lang="zh-CN" sz="2400" b="1">
              <a:solidFill>
                <a:srgbClr val="C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1206500" y="2082800"/>
            <a:ext cx="5743575" cy="2862580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行为对齐不等于对抗鲁棒性</a:t>
            </a:r>
            <a:r>
              <a:rPr lang="zh-CN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即模型正常情况下表现安全不等于模型具有对抗鲁棒性</a:t>
            </a:r>
            <a:endParaRPr sz="20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en-US" altLang="zh-CN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</a:t>
            </a:r>
            <a:r>
              <a:rPr lang="zh-CN" altLang="en-US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的聊天系统前面可能存在额外的 </a:t>
            </a:r>
            <a:r>
              <a:rPr lang="en-US" altLang="zh-CN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 filter</a:t>
            </a:r>
            <a:r>
              <a:rPr lang="en-US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sz="20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800"/>
              </a:spcAft>
              <a:buNone/>
            </a:pPr>
            <a:r>
              <a:rPr lang="en-US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en-US" altLang="zh-CN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source model </a:t>
            </a:r>
            <a:r>
              <a:rPr lang="zh-CN" altLang="en-US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 </a:t>
            </a:r>
            <a:r>
              <a:rPr lang="en-US" altLang="zh-CN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target model </a:t>
            </a:r>
            <a:r>
              <a:rPr lang="zh-CN" altLang="en-US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越相关，攻击越容易</a:t>
            </a:r>
            <a:r>
              <a:rPr lang="en-US" altLang="zh-CN" sz="2000">
                <a:solidFill>
                  <a:srgbClr val="2222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transfer</a:t>
            </a:r>
            <a:endParaRPr lang="zh-CN" altLang="en-US" sz="20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08000"/>
              </a:lnSpc>
              <a:spcAft>
                <a:spcPts val="800"/>
              </a:spcAft>
              <a:buNone/>
            </a:pPr>
            <a:endParaRPr sz="2000">
              <a:solidFill>
                <a:srgbClr val="22222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1206500" y="5207000"/>
            <a:ext cx="9652000" cy="328295"/>
          </a:xfrm>
          <a:prstGeom prst="rect">
            <a:avLst/>
          </a:prstGeom>
          <a:noFill/>
        </p:spPr>
        <p:txBody>
          <a:bodyPr vert="horz" wrap="square" lIns="38100" tIns="25400" rIns="38100" bIns="25400">
            <a:noAutofit/>
          </a:bodyPr>
          <a:lstStyle/>
          <a:p>
            <a:pPr algn="ctr">
              <a:buNone/>
            </a:pPr>
            <a:r>
              <a:rPr sz="2400" b="1">
                <a:solidFill>
                  <a:srgbClr val="C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最重要的启示：安全评估需要持续、自动化的对抗测试。</a:t>
            </a:r>
            <a:endParaRPr sz="2400" b="1">
              <a:solidFill>
                <a:srgbClr val="C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>
            <a:spLocks noGrp="1"/>
          </p:cNvSpPr>
          <p:nvPr/>
        </p:nvSpPr>
        <p:spPr>
          <a:xfrm>
            <a:off x="3605713" y="1587570"/>
            <a:ext cx="5314276" cy="28623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8000" b="1">
                <a:ln w="47625">
                  <a:gradFill>
                    <a:gsLst>
                      <a:gs pos="0">
                        <a:srgbClr val="C00000"/>
                      </a:gs>
                      <a:gs pos="70000">
                        <a:srgbClr val="C00000">
                          <a:alpha val="0"/>
                        </a:srgbClr>
                      </a:gs>
                    </a:gsLst>
                    <a:lin ang="5400000" scaled="1"/>
                  </a:gradFill>
                </a:ln>
                <a:gradFill>
                  <a:gsLst>
                    <a:gs pos="0">
                      <a:srgbClr val="C00000">
                        <a:alpha val="13000"/>
                      </a:srgbClr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  <a:latin typeface="Arial" panose="020B0604020202020204"/>
                <a:ea typeface="Arial" panose="020B0604020202020204"/>
                <a:cs typeface="Arial" panose="020B0604020202020204"/>
              </a:rPr>
              <a:t>Q&amp;A</a:t>
            </a:r>
            <a:endParaRPr sz="18000" b="1">
              <a:ln w="47625" cap="rnd">
                <a:gradFill>
                  <a:gsLst>
                    <a:gs pos="0">
                      <a:srgbClr val="C00000"/>
                    </a:gs>
                    <a:gs pos="70000">
                      <a:srgbClr val="C00000">
                        <a:alpha val="0"/>
                      </a:srgbClr>
                    </a:gs>
                  </a:gsLst>
                  <a:lin ang="5400000" scaled="1"/>
                </a:gradFill>
              </a:ln>
              <a:gradFill>
                <a:gsLst>
                  <a:gs pos="0">
                    <a:srgbClr val="C00000">
                      <a:alpha val="13000"/>
                    </a:srgbClr>
                  </a:gs>
                  <a:gs pos="70000">
                    <a:srgbClr val="C00000">
                      <a:alpha val="0"/>
                    </a:srgbClr>
                  </a:gs>
                </a:gsLst>
                <a:lin ang="5400000" scaled="1"/>
              </a:gra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文本框 13"/>
          <p:cNvSpPr>
            <a:spLocks noGrp="1"/>
          </p:cNvSpPr>
          <p:nvPr/>
        </p:nvSpPr>
        <p:spPr>
          <a:xfrm>
            <a:off x="3926175" y="3573006"/>
            <a:ext cx="310854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buNone/>
            </a:pPr>
            <a:r>
              <a:rPr sz="5400" b="1" spc="300">
                <a:gradFill>
                  <a:gsLst>
                    <a:gs pos="0">
                      <a:srgbClr val="C00000"/>
                    </a:gs>
                    <a:gs pos="100000">
                      <a:srgbClr val="F87768"/>
                    </a:gs>
                  </a:gsLst>
                  <a:lin ang="5400000" scaled="0"/>
                </a:gradFill>
                <a:latin typeface="Arial" panose="020B0604020202020204"/>
                <a:ea typeface="Arial" panose="020B0604020202020204"/>
                <a:cs typeface="Arial" panose="020B0604020202020204"/>
              </a:rPr>
              <a:t>感谢聆听</a:t>
            </a:r>
            <a:endParaRPr sz="5400" b="1" spc="300">
              <a:gradFill>
                <a:gsLst>
                  <a:gs pos="0">
                    <a:srgbClr val="C00000"/>
                  </a:gs>
                  <a:gs pos="100000">
                    <a:srgbClr val="F87768"/>
                  </a:gs>
                </a:gsLst>
                <a:lin ang="5400000" scaled="0"/>
              </a:gra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文本框 14"/>
          <p:cNvSpPr>
            <a:spLocks noGrp="1"/>
          </p:cNvSpPr>
          <p:nvPr/>
        </p:nvSpPr>
        <p:spPr>
          <a:xfrm>
            <a:off x="3410342" y="4449892"/>
            <a:ext cx="56021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spc="3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QUESTIONS &amp; DISCUSSION</a:t>
            </a:r>
            <a:endParaRPr sz="2800" spc="30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7.95,&quot;left&quot;:72.65,&quot;top&quot;:126.7,&quot;width&quot;:721.6055905511812}"/>
</p:tagLst>
</file>

<file path=ppt/tags/tag2.xml><?xml version="1.0" encoding="utf-8"?>
<p:tagLst xmlns:p="http://schemas.openxmlformats.org/presentationml/2006/main">
  <p:tag name="KSO_WM_DIAGRAM_VIRTUALLY_FRAME" val="{&quot;height&quot;:317.95,&quot;left&quot;:72.65,&quot;top&quot;:126.7,&quot;width&quot;:721.6055905511812}"/>
</p:tagLst>
</file>

<file path=ppt/tags/tag3.xml><?xml version="1.0" encoding="utf-8"?>
<p:tagLst xmlns:p="http://schemas.openxmlformats.org/presentationml/2006/main">
  <p:tag name="KSO_WM_DIAGRAM_VIRTUALLY_FRAME" val="{&quot;height&quot;:317.95,&quot;left&quot;:72.65,&quot;top&quot;:126.7,&quot;width&quot;:721.6055905511812}"/>
</p:tagLst>
</file>

<file path=ppt/tags/tag4.xml><?xml version="1.0" encoding="utf-8"?>
<p:tagLst xmlns:p="http://schemas.openxmlformats.org/presentationml/2006/main">
  <p:tag name="KSO_WM_DIAGRAM_VIRTUALLY_FRAME" val="{&quot;height&quot;:317.95,&quot;left&quot;:72.65,&quot;top&quot;:126.7,&quot;width&quot;:721.6055905511812}"/>
</p:tagLst>
</file>

<file path=ppt/tags/tag5.xml><?xml version="1.0" encoding="utf-8"?>
<p:tagLst xmlns:p="http://schemas.openxmlformats.org/presentationml/2006/main">
  <p:tag name="KSO_WM_DIAGRAM_VIRTUALLY_FRAME" val="{&quot;height&quot;:317.95,&quot;left&quot;:72.65,&quot;top&quot;:126.7,&quot;width&quot;:721.6055905511812}"/>
</p:tagLst>
</file>

<file path=ppt/tags/tag6.xml><?xml version="1.0" encoding="utf-8"?>
<p:tagLst xmlns:p="http://schemas.openxmlformats.org/presentationml/2006/main">
  <p:tag name="KSO_WM_DIAGRAM_VIRTUALLY_FRAME" val="{&quot;height&quot;:317.95,&quot;left&quot;:72.65,&quot;top&quot;:126.7,&quot;width&quot;:721.6055905511812}"/>
</p:tagLst>
</file>

<file path=ppt/tags/tag7.xml><?xml version="1.0" encoding="utf-8"?>
<p:tagLst xmlns:p="http://schemas.openxmlformats.org/presentationml/2006/main">
  <p:tag name="KSO_WM_DIAGRAM_VIRTUALLY_FRAME" val="{&quot;height&quot;:317.95,&quot;left&quot;:72.65,&quot;top&quot;:126.7,&quot;width&quot;:721.6055905511812}"/>
</p:tagLst>
</file>

<file path=ppt/tags/tag8.xml><?xml version="1.0" encoding="utf-8"?>
<p:tagLst xmlns:p="http://schemas.openxmlformats.org/presentationml/2006/main">
  <p:tag name="KSO_WM_DIAGRAM_VIRTUALLY_FRAME" val="{&quot;height&quot;:317.95,&quot;left&quot;:72.65,&quot;top&quot;:126.7,&quot;width&quot;:721.6055905511812}"/>
</p:tagLst>
</file>

<file path=ppt/tags/tag9.xml><?xml version="1.0" encoding="utf-8"?>
<p:tagLst xmlns:p="http://schemas.openxmlformats.org/presentationml/2006/main">
  <p:tag name="KSO_WM_DIAGRAM_VIRTUALLY_FRAME" val="{&quot;height&quot;:317.95,&quot;left&quot;:72.65,&quot;top&quot;:126.7,&quot;width&quot;:721.6055905511812}"/>
</p:tagLst>
</file>

<file path=ppt/tags/tag10.xml><?xml version="1.0" encoding="utf-8"?>
<p:tagLst xmlns:p="http://schemas.openxmlformats.org/presentationml/2006/main">
  <p:tag name="KSO_WM_DIAGRAM_VIRTUALLY_FRAME" val="{&quot;height&quot;:317.95,&quot;left&quot;:72.65,&quot;top&quot;:126.7,&quot;width&quot;:721.6055905511812}"/>
</p:tagLst>
</file>

<file path=ppt/tags/tag11.xml><?xml version="1.0" encoding="utf-8"?>
<p:tagLst xmlns:p="http://schemas.openxmlformats.org/presentationml/2006/main">
  <p:tag name="KSO_WM_DIAGRAM_VIRTUALLY_FRAME" val="{&quot;height&quot;:317.95,&quot;left&quot;:72.65,&quot;top&quot;:126.7,&quot;width&quot;:721.6055905511812}"/>
</p:tagLst>
</file>

<file path=ppt/tags/tag12.xml><?xml version="1.0" encoding="utf-8"?>
<p:tagLst xmlns:p="http://schemas.openxmlformats.org/presentationml/2006/main">
  <p:tag name="KSO_WM_DIAGRAM_VIRTUALLY_FRAME" val="{&quot;height&quot;:317.95,&quot;left&quot;:72.65,&quot;top&quot;:126.7,&quot;width&quot;:721.6055905511812}"/>
</p:tagLst>
</file>

<file path=ppt/tags/tag13.xml><?xml version="1.0" encoding="utf-8"?>
<p:tagLst xmlns:p="http://schemas.openxmlformats.org/presentationml/2006/main">
  <p:tag name="KSO_WM_DIAGRAM_VIRTUALLY_FRAME" val="{&quot;height&quot;:317.95,&quot;left&quot;:72.65,&quot;top&quot;:126.7,&quot;width&quot;:721.6055905511812}"/>
</p:tagLst>
</file>

<file path=ppt/tags/tag14.xml><?xml version="1.0" encoding="utf-8"?>
<p:tagLst xmlns:p="http://schemas.openxmlformats.org/presentationml/2006/main">
  <p:tag name="KSO_WM_DIAGRAM_VIRTUALLY_FRAME" val="{&quot;height&quot;:325.2,&quot;left&quot;:95,&quot;top&quot;:126,&quot;width&quot;:768.65}"/>
</p:tagLst>
</file>

<file path=ppt/tags/tag15.xml><?xml version="1.0" encoding="utf-8"?>
<p:tagLst xmlns:p="http://schemas.openxmlformats.org/presentationml/2006/main">
  <p:tag name="KSO_WM_DIAGRAM_VIRTUALLY_FRAME" val="{&quot;height&quot;:325.2,&quot;left&quot;:95,&quot;top&quot;:126,&quot;width&quot;:768.65}"/>
</p:tagLst>
</file>

<file path=ppt/tags/tag16.xml><?xml version="1.0" encoding="utf-8"?>
<p:tagLst xmlns:p="http://schemas.openxmlformats.org/presentationml/2006/main">
  <p:tag name="KSO_WM_DIAGRAM_VIRTUALLY_FRAME" val="{&quot;height&quot;:325.2,&quot;left&quot;:95,&quot;top&quot;:126,&quot;width&quot;:768.65}"/>
</p:tagLst>
</file>

<file path=ppt/tags/tag17.xml><?xml version="1.0" encoding="utf-8"?>
<p:tagLst xmlns:p="http://schemas.openxmlformats.org/presentationml/2006/main">
  <p:tag name="KSO_WM_DIAGRAM_VIRTUALLY_FRAME" val="{&quot;height&quot;:325.2,&quot;left&quot;:95,&quot;top&quot;:126,&quot;width&quot;:768.65}"/>
</p:tagLst>
</file>

<file path=ppt/tags/tag18.xml><?xml version="1.0" encoding="utf-8"?>
<p:tagLst xmlns:p="http://schemas.openxmlformats.org/presentationml/2006/main">
  <p:tag name="KSO_WM_DIAGRAM_VIRTUALLY_FRAME" val="{&quot;height&quot;:170.85,&quot;left&quot;:100,&quot;top&quot;:125,&quot;width&quot;:745}"/>
</p:tagLst>
</file>

<file path=ppt/tags/tag19.xml><?xml version="1.0" encoding="utf-8"?>
<p:tagLst xmlns:p="http://schemas.openxmlformats.org/presentationml/2006/main">
  <p:tag name="KSO_WM_DIAGRAM_VIRTUALLY_FRAME" val="{&quot;height&quot;:170.85,&quot;left&quot;:100,&quot;top&quot;:125,&quot;width&quot;:745}"/>
</p:tagLst>
</file>

<file path=ppt/tags/tag20.xml><?xml version="1.0" encoding="utf-8"?>
<p:tagLst xmlns:p="http://schemas.openxmlformats.org/presentationml/2006/main">
  <p:tag name="KSO_WM_DIAGRAM_VIRTUALLY_FRAME" val="{&quot;height&quot;:66.85,&quot;left&quot;:95,&quot;top&quot;:125,&quot;width&quot;:760}"/>
</p:tagLst>
</file>

<file path=ppt/tags/tag21.xml><?xml version="1.0" encoding="utf-8"?>
<p:tagLst xmlns:p="http://schemas.openxmlformats.org/presentationml/2006/main">
  <p:tag name="KSO_WM_DIAGRAM_VIRTUALLY_FRAME" val="{&quot;height&quot;:66.85,&quot;left&quot;:95,&quot;top&quot;:125,&quot;width&quot;:760}"/>
</p:tagLst>
</file>

<file path=ppt/tags/tag22.xml><?xml version="1.0" encoding="utf-8"?>
<p:tagLst xmlns:p="http://schemas.openxmlformats.org/presentationml/2006/main">
  <p:tag name="KSO_WM_DIAGRAM_VIRTUALLY_FRAME" val="{&quot;height&quot;:66.85,&quot;left&quot;:95,&quot;top&quot;:125,&quot;width&quot;:760}"/>
</p:tagLst>
</file>

<file path=ppt/tags/tag23.xml><?xml version="1.0" encoding="utf-8"?>
<p:tagLst xmlns:p="http://schemas.openxmlformats.org/presentationml/2006/main">
  <p:tag name="KSO_WM_DIAGRAM_VIRTUALLY_FRAME" val="{&quot;height&quot;:66.85,&quot;left&quot;:95,&quot;top&quot;:125,&quot;width&quot;:760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1467</Words>
  <Application>WPS 演示</Application>
  <PresentationFormat>Converted Presentation</PresentationFormat>
  <Paragraphs>162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Cambria Math</vt:lpstr>
      <vt:lpstr>MS Mincho</vt:lpstr>
      <vt:lpstr>Segoe Print</vt:lpstr>
      <vt:lpstr>Arial Unicode MS</vt:lpstr>
      <vt:lpstr>等线 Light</vt:lpstr>
      <vt:lpstr>等线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往后余生</cp:lastModifiedBy>
  <cp:revision>20</cp:revision>
  <dcterms:created xsi:type="dcterms:W3CDTF">2026-09-27T09:55:00Z</dcterms:created>
  <dcterms:modified xsi:type="dcterms:W3CDTF">2026-09-28T14:31:20Z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E3436BF71F7545878F66B1E5BB463D8D_12</vt:lpwstr>
  </property>
  <property fmtid="{D5CDD505-2E9C-101B-9397-08002B2CF9AE}" pid="3" name="KSOProductBuildVer">
    <vt:lpwstr>2052-12.1.0.28043</vt:lpwstr>
  </property>
</Properties>
</file>